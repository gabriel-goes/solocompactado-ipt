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0AFC9E-05EC-4F86-75D4-DE0CEAEE75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381BAF-FA62-BAE0-330E-E68F9ED4C8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FF850-B990-6940-08CB-8262A8888B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8828A7-3141-FD45-5AC0-E610667299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F2F86E-F037-BB49-97E9-5F1B257D9F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020FA-B5DB-6A52-E5F6-DBC58F7C3C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0DC246-C731-30EE-D8D0-168E2908F6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1F124-D47B-3595-310A-58698414ED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5FB0B5-7081-1696-757A-36F3A68DED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61299A-4752-2225-026A-2273A1F890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051F8D-8EE5-44F8-E49A-0CD01EEB02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9C7395-68BA-1CAD-DAA0-66DB3797A1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74D60F-33A5-03E8-4E1A-65FF5320FE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DAB9D-6495-3620-FC1F-FE641BC25A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D1EF9-E3BF-7619-75F7-4ED189CCB7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CD0CCF-8462-9E94-760E-DDC9B3346D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20502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52511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37237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92865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06742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1854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92085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94078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955404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83167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195877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95907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18313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346603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83810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993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66951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42196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51048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98485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41741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42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06918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29496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8990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914028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762431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9804797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7654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4384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423050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3951115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39376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1712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9833586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8431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1967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551002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54505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74253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493345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99138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201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414061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820770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77912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325365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99684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492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56716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7208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950316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70782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95025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44552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41870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821899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22142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58861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66775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238853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712523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458883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42D4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240327" name="Rectangle 1"/>
          <p:cNvSpPr/>
          <p:nvPr/>
        </p:nvSpPr>
        <p:spPr bwMode="auto">
          <a:xfrm>
            <a:off x="3200400" y="2834640"/>
            <a:ext cx="5790895" cy="36576"/>
          </a:xfrm>
          <a:prstGeom prst="rect">
            <a:avLst/>
          </a:prstGeom>
          <a:solidFill>
            <a:srgbClr val="C9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893543" name="TextBox 2"/>
          <p:cNvSpPr txBox="1"/>
          <p:nvPr/>
        </p:nvSpPr>
        <p:spPr bwMode="auto">
          <a:xfrm>
            <a:off x="731520" y="1280160"/>
            <a:ext cx="107286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4200" b="1" i="0">
                <a:solidFill>
                  <a:srgbClr val="FFFFFF"/>
                </a:solidFill>
                <a:latin typeface="Calibri"/>
              </a:rPr>
              <a:t>Mapeamento de Análogos ao Terranimo</a:t>
            </a:r>
            <a:endParaRPr/>
          </a:p>
        </p:txBody>
      </p:sp>
      <p:sp>
        <p:nvSpPr>
          <p:cNvPr id="833361458" name="TextBox 3"/>
          <p:cNvSpPr txBox="1"/>
          <p:nvPr/>
        </p:nvSpPr>
        <p:spPr bwMode="auto">
          <a:xfrm>
            <a:off x="731520" y="3108960"/>
            <a:ext cx="1072865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/>
            </a:pPr>
            <a:r>
              <a:rPr sz="2000" b="0" i="0">
                <a:solidFill>
                  <a:srgbClr val="BBCCDD"/>
                </a:solidFill>
                <a:latin typeface="Calibri"/>
              </a:rPr>
              <a:t>No mundo e no Brasil — Foco em compactação por tráfego</a:t>
            </a: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r>
              <a:rPr sz="2000" b="0" i="0">
                <a:solidFill>
                  <a:srgbClr val="BBCCDD"/>
                </a:solidFill>
                <a:latin typeface="Calibri"/>
              </a:rPr>
              <a:t>SoloCompactado IPT  |  30 / 03 /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802406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632436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9165439" name="TextBox 3"/>
          <p:cNvSpPr txBox="1"/>
          <p:nvPr/>
        </p:nvSpPr>
        <p:spPr bwMode="auto">
          <a:xfrm>
            <a:off x="731520" y="137160"/>
            <a:ext cx="10733694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pt-BR" sz="2600" b="1" i="0">
                <a:solidFill>
                  <a:srgbClr val="FFFFFF"/>
                </a:solidFill>
                <a:latin typeface="Calibri"/>
              </a:rPr>
              <a:t>Tópicos</a:t>
            </a:r>
            <a:endParaRPr lang="pt-BR"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43681349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O que é o Terranimo e por que é referência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Panorama internacional de ferramentas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Quadro comparativo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Análogos brasileiros: PredComp e COMPSOHMA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Pacote soilphysics e PTFs brasileiras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Grupos de pesquisa e bases de dados nacionais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Lacunas críticas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Próximos passos e proposta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127648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0468928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097373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Terranimo: a referência internacional</a:t>
            </a:r>
            <a:endParaRPr/>
          </a:p>
        </p:txBody>
      </p:sp>
      <p:sp>
        <p:nvSpPr>
          <p:cNvPr id="1812541282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Consórcio: Agroscope (CH), Aarhus (DK), SLU (SE), Wageningen (NL)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Modo Light: 4 entradas → risco a 35 cm (semáforo verde / amarelo / vermelho)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Carga na roda, pressão do pneu, teor de argila, sucção matricial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Modo Expert: solo por camadas (10 cm), textura completa, parâmetros mecânicos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Banco de máquinas pré-populado + interface web amigável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Integrado ao CLAAS CEMOS desde 2022 (decisão embarcada no trator)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Nenhuma versão para solos tropicais / Brasil na página oficial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5C8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674671" name="Rectangle 1"/>
          <p:cNvSpPr/>
          <p:nvPr/>
        </p:nvSpPr>
        <p:spPr bwMode="auto">
          <a:xfrm>
            <a:off x="4114800" y="3794760"/>
            <a:ext cx="3962095" cy="32004"/>
          </a:xfrm>
          <a:prstGeom prst="rect">
            <a:avLst/>
          </a:prstGeom>
          <a:solidFill>
            <a:srgbClr val="C9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5383402" name="TextBox 2"/>
          <p:cNvSpPr txBox="1"/>
          <p:nvPr/>
        </p:nvSpPr>
        <p:spPr bwMode="auto">
          <a:xfrm>
            <a:off x="731520" y="2194560"/>
            <a:ext cx="107286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800" b="1" i="0">
                <a:solidFill>
                  <a:srgbClr val="FFFFFF"/>
                </a:solidFill>
                <a:latin typeface="Calibri"/>
              </a:rPr>
              <a:t>Panorama Internacional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367869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282539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6663183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Modelos analíticos (base científica)</a:t>
            </a:r>
            <a:endParaRPr/>
          </a:p>
        </p:txBody>
      </p:sp>
      <p:sp>
        <p:nvSpPr>
          <p:cNvPr id="2129173187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SoilFlex (Keller et al. 2007) — motor do Terranimo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Tensão vertical via Boussinesq / Froehlich + contato super-elipse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Implementado no pacote R soilphysics (função stressTraffic)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TASC (Keller 2005) — sub-modelo de contato pneu-solo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SOCOMO (van den Akker 2004) — precursor, Boussinesq + Froehlich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COMPSOIL (O'Sullivan et al. 1999) — foco em variação de densidade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Projeto EU SIDASS / ENVASSO; foco na magnitude (Δρ), não no risco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PTFs Horn / Lebert (1991, 2003) — resistência do solo, base da política alemã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693496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1106117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3224164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Ferramentas aplicadas, MEF e fronteira</a:t>
            </a:r>
            <a:endParaRPr/>
          </a:p>
        </p:txBody>
      </p:sp>
      <p:sp>
        <p:nvSpPr>
          <p:cNvPr id="1633867956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REPRO (Alemanha) — sustentabilidade de fazenda; compactação é um módulo entre vários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FRIDA (Alemanha) — diagnóstico qualitativo de risco por rodado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Softsoil / PLAXIS (Bentley) — MEF comercial, muito detalhado, impraticável p/ campo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Abordagens ANN / ML (2020–2025) — data-driven, sem ferramenta operacional ainda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Soil2Cover (Keller et al. 2025) — FRONTEIRA: otimização de rota + SoilFlex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Não só avalia risco, mas otimiza a rota que minimiza compactação acumulada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Testado em 1 000+ campos. Publicação: Precision Agriculture 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675563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7093175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9627811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Quadro comparativo internacional</a:t>
            </a:r>
            <a:endParaRPr/>
          </a:p>
        </p:txBody>
      </p:sp>
      <p:graphicFrame>
        <p:nvGraphicFramePr>
          <p:cNvPr id="1265207915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143000"/>
          <a:ext cx="10728654" cy="50292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3868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Ferramenta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País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Web?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Diferencial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Terranimo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CH/DK/SE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Sim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Ativo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Referência: motor + UX + banco de máquinas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SoilFlex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CH/SE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Via R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Ativo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Base científica do Terranimo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TASC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CH/SE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Não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Ativo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Sub-modelo de contato pneu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SOCOMO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NL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Não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Legado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Precursor analítico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COMPSOIL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IE/EU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Não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Acadêmico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Foco em Δρ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REPRO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DE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Parcial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Incerto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Módulo em ferramenta de fazenda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Softsoil / PLAXIS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NL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Não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Comercial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MEF detalhado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Soil2Cover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CH/SE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Não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Pesquisa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Otimização de rota + SoilFlex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PredComp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BR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Sim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Ativo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SoilFlex em Shiny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COMPSOHMA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BR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Sim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Beta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Light brasileiro, foco cana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Horn PTFs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DE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Não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Política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Resistência p/ regulação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686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ANN / ML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Vários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Não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Pesquisa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Data-driven, sem ferramenta pronta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5C8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685853" name="Rectangle 1"/>
          <p:cNvSpPr/>
          <p:nvPr/>
        </p:nvSpPr>
        <p:spPr bwMode="auto">
          <a:xfrm>
            <a:off x="4114800" y="3794760"/>
            <a:ext cx="3962095" cy="32004"/>
          </a:xfrm>
          <a:prstGeom prst="rect">
            <a:avLst/>
          </a:prstGeom>
          <a:solidFill>
            <a:srgbClr val="C9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239432" name="TextBox 2"/>
          <p:cNvSpPr txBox="1"/>
          <p:nvPr/>
        </p:nvSpPr>
        <p:spPr bwMode="auto">
          <a:xfrm>
            <a:off x="731520" y="2194560"/>
            <a:ext cx="107286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800" b="1" i="0">
                <a:solidFill>
                  <a:srgbClr val="FFFFFF"/>
                </a:solidFill>
                <a:latin typeface="Calibri"/>
              </a:rPr>
              <a:t>Análogos Brasileiros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663678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2004060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3868503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PredComp vs COMPSOHMA</a:t>
            </a:r>
            <a:endParaRPr/>
          </a:p>
        </p:txBody>
      </p:sp>
      <p:sp>
        <p:nvSpPr>
          <p:cNvPr id="1957381551" name="Rectangle 4"/>
          <p:cNvSpPr/>
          <p:nvPr/>
        </p:nvSpPr>
        <p:spPr bwMode="auto">
          <a:xfrm>
            <a:off x="6053328" y="1051560"/>
            <a:ext cx="1828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9509457" name="TextBox 5"/>
          <p:cNvSpPr txBox="1"/>
          <p:nvPr/>
        </p:nvSpPr>
        <p:spPr bwMode="auto">
          <a:xfrm>
            <a:off x="731520" y="10972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100" b="1" i="0">
                <a:solidFill>
                  <a:srgbClr val="0D6EAA"/>
                </a:solidFill>
                <a:latin typeface="Calibri"/>
              </a:rPr>
              <a:t>PredComp (acadêmico)</a:t>
            </a:r>
            <a:endParaRPr/>
          </a:p>
        </p:txBody>
      </p:sp>
      <p:sp>
        <p:nvSpPr>
          <p:cNvPr id="501712515" name="Rectangle 6"/>
          <p:cNvSpPr/>
          <p:nvPr/>
        </p:nvSpPr>
        <p:spPr bwMode="auto">
          <a:xfrm>
            <a:off x="731520" y="1536192"/>
            <a:ext cx="2743200" cy="18288"/>
          </a:xfrm>
          <a:prstGeom prst="rect">
            <a:avLst/>
          </a:prstGeom>
          <a:solidFill>
            <a:srgbClr val="0D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137438" name="TextBox 7"/>
          <p:cNvSpPr txBox="1"/>
          <p:nvPr/>
        </p:nvSpPr>
        <p:spPr bwMode="auto">
          <a:xfrm>
            <a:off x="731520" y="16916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Base: soilphysics / SoilFlex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5 abas: tensão, pré-adensamento,</a:t>
            </a:r>
            <a:br>
              <a:rPr sz="1700" b="0" i="0">
                <a:solidFill>
                  <a:srgbClr val="2A2A2A"/>
                </a:solidFill>
                <a:latin typeface="Calibri"/>
              </a:rPr>
            </a:br>
            <a:r>
              <a:rPr sz="1700" b="0" i="0">
                <a:solidFill>
                  <a:srgbClr val="2A2A2A"/>
                </a:solidFill>
                <a:latin typeface="Calibri"/>
              </a:rPr>
              <a:t>  prop. compressivas, risco, predição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Entradas detalhadas: pressão pneu,</a:t>
            </a:r>
            <a:br>
              <a:rPr sz="1700" b="0" i="0">
                <a:solidFill>
                  <a:srgbClr val="2A2A2A"/>
                </a:solidFill>
                <a:latin typeface="Calibri"/>
              </a:rPr>
            </a:br>
            <a:r>
              <a:rPr sz="1700" b="0" i="0">
                <a:solidFill>
                  <a:srgbClr val="2A2A2A"/>
                </a:solidFill>
                <a:latin typeface="Calibri"/>
              </a:rPr>
              <a:t>  carga, N, λ, κ, ρ …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Exige conhecimento de parâmetros</a:t>
            </a:r>
            <a:br>
              <a:rPr sz="1700" b="0" i="0">
                <a:solidFill>
                  <a:srgbClr val="2A2A2A"/>
                </a:solidFill>
                <a:latin typeface="Calibri"/>
              </a:rPr>
            </a:br>
            <a:r>
              <a:rPr sz="1700" b="0" i="0">
                <a:solidFill>
                  <a:srgbClr val="2A2A2A"/>
                </a:solidFill>
                <a:latin typeface="Calibri"/>
              </a:rPr>
              <a:t>  mecânicos do solo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Ativo no CRAN, registro INPI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Financiamento FAPESP + CNPq</a:t>
            </a:r>
            <a:endParaRPr/>
          </a:p>
        </p:txBody>
      </p:sp>
      <p:sp>
        <p:nvSpPr>
          <p:cNvPr id="52661741" name="TextBox 8"/>
          <p:cNvSpPr txBox="1"/>
          <p:nvPr/>
        </p:nvSpPr>
        <p:spPr bwMode="auto">
          <a:xfrm>
            <a:off x="6309360" y="10972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100" b="1" i="0">
                <a:solidFill>
                  <a:srgbClr val="0D6EAA"/>
                </a:solidFill>
                <a:latin typeface="Calibri"/>
              </a:rPr>
              <a:t>COMPSOHMA (aplicado, beta)</a:t>
            </a:r>
            <a:endParaRPr/>
          </a:p>
        </p:txBody>
      </p:sp>
      <p:sp>
        <p:nvSpPr>
          <p:cNvPr id="183158409" name="Rectangle 9"/>
          <p:cNvSpPr/>
          <p:nvPr/>
        </p:nvSpPr>
        <p:spPr bwMode="auto">
          <a:xfrm>
            <a:off x="6309360" y="1536192"/>
            <a:ext cx="2743200" cy="18288"/>
          </a:xfrm>
          <a:prstGeom prst="rect">
            <a:avLst/>
          </a:prstGeom>
          <a:solidFill>
            <a:srgbClr val="0D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261080" name="TextBox 10"/>
          <p:cNvSpPr txBox="1"/>
          <p:nvPr/>
        </p:nvSpPr>
        <p:spPr bwMode="auto">
          <a:xfrm>
            <a:off x="6309360" y="16916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Estilo Terranimo Light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Risco até 1 m (4 camadas)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Cenários pré-configurados (cana)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Entradas simples: máquina, argila</a:t>
            </a:r>
            <a:br>
              <a:rPr sz="1700" b="0" i="0">
                <a:solidFill>
                  <a:srgbClr val="2A2A2A"/>
                </a:solidFill>
                <a:latin typeface="Calibri"/>
              </a:rPr>
            </a:br>
            <a:r>
              <a:rPr sz="1700" b="0" i="0">
                <a:solidFill>
                  <a:srgbClr val="2A2A2A"/>
                </a:solidFill>
                <a:latin typeface="Calibri"/>
              </a:rPr>
              <a:t>  por camada, umidade qualitativa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Saída: perfil verde / amarelo / vermelho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Beta, registro INPI</a:t>
            </a:r>
            <a:endParaRPr/>
          </a:p>
          <a:p>
            <a:pPr>
              <a:spcAft>
                <a:spcPts val="500"/>
              </a:spcAft>
              <a:defRPr/>
            </a:pPr>
            <a:r>
              <a:rPr sz="1700" b="0" i="0">
                <a:solidFill>
                  <a:srgbClr val="2A2A2A"/>
                </a:solidFill>
                <a:latin typeface="Calibri"/>
              </a:rPr>
              <a:t> •  Foco atual: cana-de-açúcar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191010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6417170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7580187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Pacote soilphysics — funções de compactação</a:t>
            </a:r>
            <a:endParaRPr/>
          </a:p>
        </p:txBody>
      </p:sp>
      <p:graphicFrame>
        <p:nvGraphicFramePr>
          <p:cNvPr id="129699183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143000"/>
          <a:ext cx="10728654" cy="241401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364327"/>
                <a:gridCol w="5364328"/>
              </a:tblGrid>
              <a:tr h="40233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Função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 que calcula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stressTraffic()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Área de contato + tensão + propagação (Keller 2005 + Froehlich)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soilDeformation()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Variação de ρ após tensão (O'Sullivan &amp; Robertson 1996)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soilStrength()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σp via PTFs (Lebert / Horn, Imhoff, Severiano etc.)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soilStrength2()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PTFs adicionais para σp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compressive_properties()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N, λn, κ via PTFs (O'Sullivan, Defossez, de Lima)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100619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34072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9515429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PTFs calibradas com solos brasileiros (já no pacote)</a:t>
            </a:r>
            <a:endParaRPr/>
          </a:p>
        </p:txBody>
      </p:sp>
      <p:sp>
        <p:nvSpPr>
          <p:cNvPr id="1701917932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Severiano et al. (2013): σp para Latossolos, argila 152–521 g/kg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σp(152) = 129 h⁰·¹⁵  …  σp(521) = 63 h⁰·¹⁵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Imhoff et al. (2004): σp para Hapludox (ρ, CC, w)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de Lima et al. (2018): N, λ, κ para Franco-arenoso e Franco-argiloarenoso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de Lima et al. (2020b): PTFs para camada arável e pé-de-grade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1000" b="0" i="0">
                <a:solidFill>
                  <a:srgbClr val="2A2A2A"/>
                </a:solidFill>
                <a:latin typeface="Calibri"/>
              </a:rPr>
              <a:t> 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✔  Cobertura boa para Latossolos / Oxissolos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⚠  Lacuna: Argissolos, Nitossolos, Cambissolos, Neossolos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803456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7756675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3450840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Grupos de pesquisa (Brasil)</a:t>
            </a:r>
            <a:endParaRPr/>
          </a:p>
        </p:txBody>
      </p:sp>
      <p:sp>
        <p:nvSpPr>
          <p:cNvPr id="729981494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ESALQ / USP (Piracicaba) — HUB PRINCIPAL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R. P. de Lima (soilphysics, PredComp, COMPSOHMA)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M. R. Cherubin (COMPSOHMA, qualidade do solo em cana)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A. P. da Silva (co-autor soilphysics, pesquisador sênior)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R. B. Menillo (probe automatizada de ρ, patente INPI)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IF Goiano (Urutaí) — A. R. da Silva, co-desenvolvedor soilphysics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UFLA (Lavras) — Severiano et al., PTFs para Latossolos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UEM / UEPG (Paraná) — Tormena, Giarola: colaboração com Keller (SoilFlex-LLWR)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UFRPE (Recife) — ensaios de rodagem com solos brasileiros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EMBRAPA Solos — BDSolos, SiBCS, app SoloClass (sem ferramenta de compactação)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590418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4613867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5195378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Bases de dados e recursos brasileiros</a:t>
            </a:r>
            <a:endParaRPr/>
          </a:p>
        </p:txBody>
      </p:sp>
      <p:graphicFrame>
        <p:nvGraphicFramePr>
          <p:cNvPr id="124118570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143000"/>
          <a:ext cx="10728654" cy="241401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0233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Recurso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Instituição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Relevância para protótipo nacional</a:t>
                      </a:r>
                      <a:endParaRPr/>
                    </a:p>
                  </a:txBody>
                  <a:tcPr>
                    <a:solidFill>
                      <a:srgbClr val="142D4C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BDSolos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EMBRAPA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Milhares de perfis (granulometria, ρ, MO) → parâmetros default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HYBRAS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ANA / INPE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Curvas de retenção → estimar sucção / umidade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SiBCS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EMBRAPA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Classificação → mapear vulnerabilidade à compactação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MapBiomas Solos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Rede MapBiomas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Carbono orgânico espacializado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SoloClass (app)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EMBRAPA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>
                          <a:solidFill>
                            <a:srgbClr val="2A2A2A"/>
                          </a:solidFill>
                          <a:latin typeface="Calibri"/>
                        </a:rPr>
                        <a:t>Classificação de campo no celular</a:t>
                      </a:r>
                      <a:endParaRPr/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692016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6226759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5877003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Lacunas críticas para um Terranimo brasileiro</a:t>
            </a:r>
            <a:endParaRPr/>
          </a:p>
        </p:txBody>
      </p:sp>
      <p:sp>
        <p:nvSpPr>
          <p:cNvPr id="1260347723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Sem ferramenta agnóstica de cultura (COMPSOHMA só cana)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Sem integração espacial (GPS / RTK → mapa de risco por trilha)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Sem capacidade embarcada (nada como CLAAS CEMOS + Terranimo)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Cobertura incompleta de PTFs (faltam Argissolos, Nitossolos etc.)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Sem conexão automática com BDSolos / SiBCS (entrada toda manual)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Sem framework regulatório (Brasil não tem equivalente ao BBodSchG alemão)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696867" name="Rectangle 1"/>
          <p:cNvSpPr/>
          <p:nvPr/>
        </p:nvSpPr>
        <p:spPr bwMode="auto">
          <a:xfrm>
            <a:off x="0" y="0"/>
            <a:ext cx="12191695" cy="868680"/>
          </a:xfrm>
          <a:prstGeom prst="rect">
            <a:avLst/>
          </a:prstGeom>
          <a:solidFill>
            <a:srgbClr val="14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63128" name="Rectangle 2"/>
          <p:cNvSpPr/>
          <p:nvPr/>
        </p:nvSpPr>
        <p:spPr bwMode="auto">
          <a:xfrm>
            <a:off x="0" y="868680"/>
            <a:ext cx="12191695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3863904" name="TextBox 3"/>
          <p:cNvSpPr txBox="1"/>
          <p:nvPr/>
        </p:nvSpPr>
        <p:spPr bwMode="auto">
          <a:xfrm>
            <a:off x="731520" y="137160"/>
            <a:ext cx="107286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Próximos passos e proposta</a:t>
            </a:r>
            <a:endParaRPr/>
          </a:p>
        </p:txBody>
      </p:sp>
      <p:sp>
        <p:nvSpPr>
          <p:cNvPr id="1111255193" name="TextBox 4"/>
          <p:cNvSpPr txBox="1"/>
          <p:nvPr/>
        </p:nvSpPr>
        <p:spPr bwMode="auto">
          <a:xfrm>
            <a:off x="731520" y="1143000"/>
            <a:ext cx="1072865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Benchmark técnico: PredComp / soilphysics (SoilFlex em R, PTFs prontas)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Benchmark de interface: COMPSOHMA + Terranimo Light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Fronteira: Soil2Cover (otimização de rota + compactação acumulada)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1000" b="0" i="0">
                <a:solidFill>
                  <a:srgbClr val="2A2A2A"/>
                </a:solidFill>
                <a:latin typeface="Calibri"/>
              </a:rPr>
              <a:t> 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Tropicalizar o modelo: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Granulometria, Atterberg, índice L, índice de vazios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Grau de saturação, histórico de umedecimento / secagem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2–4 classes de solo piloto → calibrar σcrit por camada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1000" b="0" i="0">
                <a:solidFill>
                  <a:srgbClr val="2A2A2A"/>
                </a:solidFill>
                <a:latin typeface="Calibri"/>
              </a:rPr>
              <a:t> </a:t>
            </a:r>
            <a:endParaRPr/>
          </a:p>
          <a:p>
            <a:pPr>
              <a:spcBef>
                <a:spcPts val="200"/>
              </a:spcBef>
              <a:spcAft>
                <a:spcPts val="700"/>
              </a:spcAft>
              <a:defRPr/>
            </a:pPr>
            <a:r>
              <a:rPr sz="2000" b="0" i="0">
                <a:solidFill>
                  <a:srgbClr val="2A2A2A"/>
                </a:solidFill>
                <a:latin typeface="Calibri"/>
              </a:rPr>
              <a:t> •  Integração-alvo: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SiBCS / BDSolos → PTFs automáticas → modelo de risco por camada</a:t>
            </a:r>
            <a:endParaRPr/>
          </a:p>
          <a:p>
            <a:pPr>
              <a:spcBef>
                <a:spcPts val="100"/>
              </a:spcBef>
              <a:spcAft>
                <a:spcPts val="300"/>
              </a:spcAft>
              <a:defRPr/>
            </a:pPr>
            <a:r>
              <a:rPr sz="1700" b="0" i="0">
                <a:solidFill>
                  <a:srgbClr val="5A5A5A"/>
                </a:solidFill>
                <a:latin typeface="Calibri"/>
              </a:rPr>
              <a:t>       –  Saída operacional: semáforo + recomendação de ajuste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42D4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759352" name="Rectangle 1"/>
          <p:cNvSpPr/>
          <p:nvPr/>
        </p:nvSpPr>
        <p:spPr bwMode="auto">
          <a:xfrm>
            <a:off x="3200400" y="2834640"/>
            <a:ext cx="5790895" cy="36576"/>
          </a:xfrm>
          <a:prstGeom prst="rect">
            <a:avLst/>
          </a:prstGeom>
          <a:solidFill>
            <a:srgbClr val="C99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9664172" name="TextBox 2"/>
          <p:cNvSpPr txBox="1"/>
          <p:nvPr/>
        </p:nvSpPr>
        <p:spPr bwMode="auto">
          <a:xfrm>
            <a:off x="731520" y="1280160"/>
            <a:ext cx="107286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4200" b="1" i="0">
                <a:solidFill>
                  <a:srgbClr val="FFFFFF"/>
                </a:solidFill>
                <a:latin typeface="Calibri"/>
              </a:rPr>
              <a:t>Obrigado</a:t>
            </a:r>
            <a:endParaRPr/>
          </a:p>
        </p:txBody>
      </p:sp>
      <p:sp>
        <p:nvSpPr>
          <p:cNvPr id="250509664" name="TextBox 3"/>
          <p:cNvSpPr txBox="1"/>
          <p:nvPr/>
        </p:nvSpPr>
        <p:spPr bwMode="auto">
          <a:xfrm>
            <a:off x="731520" y="3108960"/>
            <a:ext cx="1072865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/>
            </a:pPr>
            <a:r>
              <a:rPr sz="2000" b="0" i="0">
                <a:solidFill>
                  <a:srgbClr val="BBCCDD"/>
                </a:solidFill>
                <a:latin typeface="Calibri"/>
              </a:rPr>
              <a:t>SoloCompactado IPT</a:t>
            </a:r>
            <a:endParaRPr/>
          </a:p>
          <a:p>
            <a:pPr algn="ctr">
              <a:defRPr/>
            </a:pPr>
            <a:r>
              <a:rPr sz="2000" b="0" i="0">
                <a:solidFill>
                  <a:srgbClr val="BBCCDD"/>
                </a:solidFill>
                <a:latin typeface="Calibri"/>
              </a:rPr>
              <a:t>Documentação completa:</a:t>
            </a:r>
            <a:endParaRPr/>
          </a:p>
          <a:p>
            <a:pPr algn="ctr">
              <a:defRPr/>
            </a:pPr>
            <a:r>
              <a:rPr sz="2000" b="0" i="0">
                <a:solidFill>
                  <a:srgbClr val="BBCCDD"/>
                </a:solidFill>
                <a:latin typeface="Calibri"/>
              </a:rPr>
              <a:t>docs/mapeamento_analogos_terranimo_brasil_2026-03-30.pdf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2026-03-30T12:22:02Z</dcterms:modified>
  <cp:category/>
</cp:coreProperties>
</file>